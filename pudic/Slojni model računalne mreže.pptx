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7" r:id="rId1"/>
  </p:sldMasterIdLst>
  <p:notesMasterIdLst>
    <p:notesMasterId r:id="rId12"/>
  </p:notesMasterIdLst>
  <p:sldIdLst>
    <p:sldId id="257" r:id="rId2"/>
    <p:sldId id="337" r:id="rId3"/>
    <p:sldId id="328" r:id="rId4"/>
    <p:sldId id="329" r:id="rId5"/>
    <p:sldId id="330" r:id="rId6"/>
    <p:sldId id="336" r:id="rId7"/>
    <p:sldId id="331" r:id="rId8"/>
    <p:sldId id="332" r:id="rId9"/>
    <p:sldId id="333" r:id="rId10"/>
    <p:sldId id="334" r:id="rId1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DB0FC-FD3C-47B0-9EC9-50393F4AC3D3}" type="datetimeFigureOut">
              <a:rPr lang="hr-HR" smtClean="0"/>
              <a:pPr/>
              <a:t>24.09.2026.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06476-C876-44F5-A08D-3BB404EB107D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2003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0" t="9776" r="9763" b="10112"/>
          <a:stretch/>
        </p:blipFill>
        <p:spPr>
          <a:xfrm>
            <a:off x="-5133" y="44625"/>
            <a:ext cx="12149807" cy="6813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7237" y="1412776"/>
            <a:ext cx="9793088" cy="2520000"/>
          </a:xfrm>
          <a:solidFill>
            <a:schemeClr val="accent4">
              <a:lumMod val="50000"/>
              <a:alpha val="63000"/>
            </a:schemeClr>
          </a:solidFill>
        </p:spPr>
        <p:txBody>
          <a:bodyPr anchor="b"/>
          <a:lstStyle>
            <a:lvl1pPr>
              <a:defRPr sz="66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hr-HR" dirty="0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391477" y="4522440"/>
            <a:ext cx="9793088" cy="1332000"/>
          </a:xfrm>
          <a:solidFill>
            <a:srgbClr val="00B0F0"/>
          </a:solidFill>
        </p:spPr>
        <p:txBody>
          <a:bodyPr anchor="t"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 dirty="0"/>
              <a:t>Kliknite da biste uredili stil podnaslova matrice</a:t>
            </a:r>
            <a:endParaRPr lang="en-US" dirty="0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utnik 9"/>
          <p:cNvSpPr/>
          <p:nvPr userDrawn="1"/>
        </p:nvSpPr>
        <p:spPr>
          <a:xfrm>
            <a:off x="1247461" y="6489384"/>
            <a:ext cx="10944539" cy="396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022" y="236358"/>
            <a:ext cx="10687129" cy="1080000"/>
          </a:xfrm>
        </p:spPr>
        <p:txBody>
          <a:bodyPr/>
          <a:lstStyle/>
          <a:p>
            <a:r>
              <a:rPr lang="hr-HR" dirty="0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7461" y="1484783"/>
            <a:ext cx="10657184" cy="495688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</a:lstStyle>
          <a:p>
            <a:pPr lvl="0"/>
            <a:r>
              <a:rPr lang="hr-HR" dirty="0"/>
              <a:t>Kliknite da biste uredili stilove teksta matrice</a:t>
            </a:r>
          </a:p>
          <a:p>
            <a:pPr lvl="1"/>
            <a:r>
              <a:rPr lang="hr-HR" dirty="0"/>
              <a:t>Druga razina</a:t>
            </a:r>
          </a:p>
          <a:p>
            <a:pPr lvl="2"/>
            <a:r>
              <a:rPr lang="hr-HR" dirty="0"/>
              <a:t>Treća razina</a:t>
            </a:r>
          </a:p>
          <a:p>
            <a:pPr lvl="3"/>
            <a:r>
              <a:rPr lang="hr-HR" dirty="0"/>
              <a:t>Četvrta razina</a:t>
            </a:r>
          </a:p>
          <a:p>
            <a:pPr lvl="4"/>
            <a:r>
              <a:rPr lang="hr-HR" dirty="0"/>
              <a:t>Peta razina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33210" y="6516710"/>
            <a:ext cx="466943" cy="341290"/>
          </a:xfrm>
          <a:ln>
            <a:noFill/>
          </a:ln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E5F53288-D357-4E6F-8666-F04D8D3A031A}" type="slidenum">
              <a:rPr lang="hr-HR" smtClean="0"/>
              <a:pPr/>
              <a:t>‹#›</a:t>
            </a:fld>
            <a:endParaRPr lang="hr-HR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7461" y="6489385"/>
            <a:ext cx="10652689" cy="395959"/>
          </a:xfrm>
          <a:prstGeom prst="rect">
            <a:avLst/>
          </a:prstGeom>
        </p:spPr>
        <p:txBody>
          <a:bodyPr anchor="ctr"/>
          <a:lstStyle>
            <a:lvl1pPr algn="l">
              <a:defRPr sz="1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pl-PL"/>
              <a:t>OSI referentni model</a:t>
            </a:r>
            <a:endParaRPr lang="hr-HR" dirty="0"/>
          </a:p>
        </p:txBody>
      </p:sp>
      <p:sp>
        <p:nvSpPr>
          <p:cNvPr id="9" name="Pravokutnik 8"/>
          <p:cNvSpPr/>
          <p:nvPr userDrawn="1"/>
        </p:nvSpPr>
        <p:spPr>
          <a:xfrm>
            <a:off x="0" y="0"/>
            <a:ext cx="12192000" cy="18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80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2" y="198487"/>
            <a:ext cx="1219371" cy="6659513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utnik 6"/>
          <p:cNvSpPr/>
          <p:nvPr userDrawn="1"/>
        </p:nvSpPr>
        <p:spPr>
          <a:xfrm>
            <a:off x="1152128" y="6381329"/>
            <a:ext cx="11039872" cy="4961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474" y="4581128"/>
            <a:ext cx="10212916" cy="1600448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hr-HR" dirty="0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74" y="2348880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45571" y="6446523"/>
            <a:ext cx="3251199" cy="365760"/>
          </a:xfrm>
          <a:prstGeom prst="rect">
            <a:avLst/>
          </a:prstGeom>
        </p:spPr>
        <p:txBody>
          <a:bodyPr/>
          <a:lstStyle/>
          <a:p>
            <a:fld id="{F11392E0-9B61-4CCD-8EDE-6F7C96E12583}" type="datetime1">
              <a:rPr lang="hr-HR" smtClean="0"/>
              <a:t>24.09.2026.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3474" y="6474578"/>
            <a:ext cx="6272097" cy="36576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53288-D357-4E6F-8666-F04D8D3A031A}" type="slidenum">
              <a:rPr lang="hr-HR" smtClean="0"/>
              <a:pPr/>
              <a:t>‹#›</a:t>
            </a:fld>
            <a:endParaRPr lang="hr-HR" dirty="0"/>
          </a:p>
        </p:txBody>
      </p:sp>
      <p:sp>
        <p:nvSpPr>
          <p:cNvPr id="8" name="Pravokutnik 7"/>
          <p:cNvSpPr/>
          <p:nvPr userDrawn="1"/>
        </p:nvSpPr>
        <p:spPr>
          <a:xfrm>
            <a:off x="0" y="0"/>
            <a:ext cx="12192000" cy="1886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8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2" y="198487"/>
            <a:ext cx="1219371" cy="6659513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473" y="277022"/>
            <a:ext cx="10652691" cy="790840"/>
          </a:xfrm>
        </p:spPr>
        <p:txBody>
          <a:bodyPr/>
          <a:lstStyle/>
          <a:p>
            <a:r>
              <a:rPr lang="hr-HR" dirty="0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1601" y="1552464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9364" y="1552464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3"/>
          </p:nvPr>
        </p:nvSpPr>
        <p:spPr>
          <a:xfrm>
            <a:off x="7824193" y="6525343"/>
            <a:ext cx="3251199" cy="33265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>
                    <a:lumMod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14F84307-1520-4ED2-B668-DAEB6A0CEF42}" type="datetime1">
              <a:rPr lang="hr-HR" smtClean="0"/>
              <a:t>24.09.2026.</a:t>
            </a:fld>
            <a:endParaRPr lang="hr-HR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7462" y="6525344"/>
            <a:ext cx="5525831" cy="33265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>
                    <a:lumMod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2" y="198487"/>
            <a:ext cx="1219371" cy="6659513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985" y="192206"/>
            <a:ext cx="10652691" cy="790840"/>
          </a:xfrm>
        </p:spPr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73" y="1525560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stilove teksta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3473" y="2165322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09876" y="1505744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stilove teksta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09876" y="219583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2" y="198487"/>
            <a:ext cx="1219371" cy="6659513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avokutnik 7"/>
          <p:cNvSpPr/>
          <p:nvPr userDrawn="1"/>
        </p:nvSpPr>
        <p:spPr>
          <a:xfrm>
            <a:off x="1247461" y="6489384"/>
            <a:ext cx="10944539" cy="396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8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73473" y="6489384"/>
            <a:ext cx="11018527" cy="396000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53288-D357-4E6F-8666-F04D8D3A031A}" type="slidenum">
              <a:rPr lang="hr-HR" smtClean="0"/>
              <a:pPr/>
              <a:t>‹#›</a:t>
            </a:fld>
            <a:endParaRPr lang="hr-HR" dirty="0"/>
          </a:p>
        </p:txBody>
      </p:sp>
      <p:sp>
        <p:nvSpPr>
          <p:cNvPr id="6" name="Pravokutnik 5"/>
          <p:cNvSpPr/>
          <p:nvPr userDrawn="1"/>
        </p:nvSpPr>
        <p:spPr>
          <a:xfrm>
            <a:off x="0" y="0"/>
            <a:ext cx="12192000" cy="18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80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2" y="198487"/>
            <a:ext cx="1219371" cy="6659513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51083" y="6474578"/>
            <a:ext cx="3251199" cy="365760"/>
          </a:xfrm>
          <a:prstGeom prst="rect">
            <a:avLst/>
          </a:prstGeom>
        </p:spPr>
        <p:txBody>
          <a:bodyPr/>
          <a:lstStyle/>
          <a:p>
            <a:fld id="{E38C012E-5786-490E-BB76-815925D7544D}" type="datetime1">
              <a:rPr lang="hr-HR" smtClean="0"/>
              <a:t>24.09.2026.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3474" y="6474578"/>
            <a:ext cx="3156375" cy="36576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9089" y="188640"/>
            <a:ext cx="10363200" cy="4942840"/>
          </a:xfrm>
        </p:spPr>
        <p:txBody>
          <a:bodyPr/>
          <a:lstStyle/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409" y="5501374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69409" y="163372"/>
            <a:ext cx="10875264" cy="52257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Pritisnite ikonu za dodavanje slike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9409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stilove teksta matrice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351083" y="6474578"/>
            <a:ext cx="3251199" cy="365760"/>
          </a:xfrm>
          <a:prstGeom prst="rect">
            <a:avLst/>
          </a:prstGeom>
        </p:spPr>
        <p:txBody>
          <a:bodyPr/>
          <a:lstStyle/>
          <a:p>
            <a:fld id="{193E00CD-978D-4233-B6A0-3A017632CD39}" type="datetime1">
              <a:rPr lang="hr-HR" smtClean="0"/>
              <a:t>24.09.2026.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173474" y="6474578"/>
            <a:ext cx="3156375" cy="36576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51083" y="6474578"/>
            <a:ext cx="3251199" cy="365760"/>
          </a:xfrm>
          <a:prstGeom prst="rect">
            <a:avLst/>
          </a:prstGeom>
        </p:spPr>
        <p:txBody>
          <a:bodyPr/>
          <a:lstStyle/>
          <a:p>
            <a:fld id="{804FBB15-6977-4CD9-80C7-8E809212A77C}" type="datetime1">
              <a:rPr lang="hr-HR" smtClean="0"/>
              <a:t>24.09.2026.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3474" y="6474578"/>
            <a:ext cx="3156375" cy="36576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7" name="Slika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50" y="19970"/>
            <a:ext cx="1031951" cy="1009592"/>
          </a:xfrm>
          <a:prstGeom prst="rect">
            <a:avLst/>
          </a:prstGeom>
        </p:spPr>
      </p:pic>
      <p:pic>
        <p:nvPicPr>
          <p:cNvPr id="8" name="Slika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8022"/>
            <a:ext cx="1056117" cy="1008727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hr-HR"/>
              <a:t>Kliknite da biste uredili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51083" y="6474578"/>
            <a:ext cx="3251199" cy="365760"/>
          </a:xfrm>
          <a:prstGeom prst="rect">
            <a:avLst/>
          </a:prstGeom>
        </p:spPr>
        <p:txBody>
          <a:bodyPr/>
          <a:lstStyle/>
          <a:p>
            <a:fld id="{25D587AC-E5C0-43E0-9332-8F8D3B7E3B8A}" type="datetime1">
              <a:rPr lang="hr-HR" smtClean="0"/>
              <a:t>24.09.2026.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3474" y="6474578"/>
            <a:ext cx="3156375" cy="36576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247461" y="1484784"/>
            <a:ext cx="10657184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dirty="0"/>
              <a:t>Uredite stilove teksta matrice</a:t>
            </a:r>
          </a:p>
          <a:p>
            <a:pPr lvl="1"/>
            <a:r>
              <a:rPr lang="hr-HR" dirty="0"/>
              <a:t>Druga razina</a:t>
            </a:r>
          </a:p>
          <a:p>
            <a:pPr lvl="2"/>
            <a:r>
              <a:rPr lang="hr-HR" dirty="0"/>
              <a:t>Treća razina</a:t>
            </a:r>
          </a:p>
          <a:p>
            <a:pPr lvl="3"/>
            <a:r>
              <a:rPr lang="hr-HR" dirty="0"/>
              <a:t>Četvrta razina</a:t>
            </a:r>
          </a:p>
          <a:p>
            <a:pPr lvl="4"/>
            <a:r>
              <a:rPr lang="hr-HR" dirty="0"/>
              <a:t>Peta razina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433210" y="6525343"/>
            <a:ext cx="466943" cy="28618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4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E5F53288-D357-4E6F-8666-F04D8D3A031A}" type="slidenum">
              <a:rPr lang="hr-HR" smtClean="0"/>
              <a:pPr/>
              <a:t>‹#›</a:t>
            </a:fld>
            <a:endParaRPr lang="hr-HR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1247461" y="269337"/>
            <a:ext cx="10652691" cy="7908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r-HR" dirty="0"/>
              <a:t>Uredite stil naslova matrice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824193" y="6525343"/>
            <a:ext cx="3251199" cy="33265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E5FE8239-2C10-4138-9D13-B21E14393FDF}" type="datetime1">
              <a:rPr lang="hr-HR" smtClean="0"/>
              <a:t>24.09.2026.</a:t>
            </a:fld>
            <a:endParaRPr lang="hr-HR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7462" y="6525344"/>
            <a:ext cx="5525831" cy="332657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l-PL"/>
              <a:t>OSI referentni model</a:t>
            </a:r>
            <a:endParaRPr lang="hr-H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4" r:id="rId6"/>
    <p:sldLayoutId id="2147483765" r:id="rId7"/>
    <p:sldLayoutId id="2147483766" r:id="rId8"/>
    <p:sldLayoutId id="2147483767" r:id="rId9"/>
    <p:sldLayoutId id="2147483768" r:id="rId10"/>
  </p:sldLayoutIdLst>
  <p:transition spd="slow">
    <p:split orient="vert"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ysClr val="windowText" lastClr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40080" indent="-228600" algn="l" defTabSz="914400" rtl="0" eaLnBrk="1" latinLnBrk="0" hangingPunct="1">
        <a:spcBef>
          <a:spcPct val="20000"/>
        </a:spcBef>
        <a:buClr>
          <a:srgbClr val="0070C0"/>
        </a:buClr>
        <a:buFont typeface="Arial" pitchFamily="34" charset="0"/>
        <a:buChar char="•"/>
        <a:defRPr sz="2000" kern="1200">
          <a:solidFill>
            <a:sysClr val="windowText" lastClr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ysClr val="windowText" lastClr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ysClr val="windowText" lastClr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ysClr val="windowText" lastClr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ftp://profesoric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2564428" y="476672"/>
            <a:ext cx="7344816" cy="3456104"/>
          </a:xfrm>
        </p:spPr>
        <p:txBody>
          <a:bodyPr anchor="ctr"/>
          <a:lstStyle/>
          <a:p>
            <a:br>
              <a:rPr lang="hr-HR" sz="5400" dirty="0"/>
            </a:br>
            <a:r>
              <a:rPr lang="hr-HR" sz="5400" dirty="0"/>
              <a:t>SLOJNI MODEL RAČUNALNE MREŽE</a:t>
            </a:r>
            <a:br>
              <a:rPr lang="hr-HR" sz="5400" dirty="0"/>
            </a:br>
            <a:endParaRPr lang="hr-HR" sz="5400" b="0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567608" y="4283204"/>
            <a:ext cx="7344816" cy="1378044"/>
          </a:xfrm>
        </p:spPr>
        <p:txBody>
          <a:bodyPr anchor="ctr"/>
          <a:lstStyle/>
          <a:p>
            <a:endParaRPr lang="hr-HR" sz="3600" dirty="0"/>
          </a:p>
          <a:p>
            <a:r>
              <a:rPr lang="hr-HR" sz="3600" dirty="0"/>
              <a:t>OSI referentni model</a:t>
            </a:r>
          </a:p>
          <a:p>
            <a:r>
              <a:rPr lang="hr-HR" sz="2000" spc="-10" dirty="0">
                <a:latin typeface="Verdana"/>
                <a:cs typeface="Verdana"/>
              </a:rPr>
              <a:t>2.E, </a:t>
            </a:r>
            <a:r>
              <a:rPr lang="hr-HR" sz="2000" i="1" spc="-10" dirty="0">
                <a:latin typeface="Verdana"/>
                <a:cs typeface="Verdana"/>
              </a:rPr>
              <a:t>Tehničari za računarstvo</a:t>
            </a:r>
          </a:p>
          <a:p>
            <a:pPr algn="r"/>
            <a:fld id="{F2621463-32DE-48FE-AAF6-7C1551C744F9}" type="datetime1">
              <a:rPr lang="hr-HR" sz="1800" i="1" spc="-10">
                <a:latin typeface="Verdana"/>
                <a:cs typeface="Verdana"/>
              </a:rPr>
              <a:pPr algn="r"/>
              <a:t>24.09.2026.</a:t>
            </a:fld>
            <a:endParaRPr lang="hr-HR" sz="1800" i="1" dirty="0">
              <a:latin typeface="Verdana"/>
              <a:cs typeface="Verdana"/>
            </a:endParaRPr>
          </a:p>
          <a:p>
            <a:endParaRPr lang="hr-HR" sz="3400" dirty="0"/>
          </a:p>
        </p:txBody>
      </p:sp>
    </p:spTree>
    <p:extLst>
      <p:ext uri="{BB962C8B-B14F-4D97-AF65-F5344CB8AC3E}">
        <p14:creationId xmlns:p14="http://schemas.microsoft.com/office/powerpoint/2010/main" val="3158810633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087CE3-590B-41D6-B13C-FD1004AA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Čvor mreže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EFBC870-F8E6-4373-A39E-32E90ACD8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>
                <a:solidFill>
                  <a:srgbClr val="FF0000"/>
                </a:solidFill>
              </a:rPr>
              <a:t>Čvor mreže </a:t>
            </a:r>
            <a:r>
              <a:rPr lang="hr-HR" dirty="0"/>
              <a:t>(</a:t>
            </a:r>
            <a:r>
              <a:rPr lang="hr-HR" dirty="0" err="1"/>
              <a:t>en</a:t>
            </a:r>
            <a:r>
              <a:rPr lang="hr-HR" dirty="0"/>
              <a:t>. </a:t>
            </a:r>
            <a:r>
              <a:rPr lang="hr-HR" b="1" dirty="0"/>
              <a:t>Network </a:t>
            </a:r>
            <a:r>
              <a:rPr lang="hr-HR" b="1" dirty="0" err="1"/>
              <a:t>node</a:t>
            </a:r>
            <a:r>
              <a:rPr lang="hr-HR" dirty="0"/>
              <a:t>) je </a:t>
            </a:r>
            <a:r>
              <a:rPr lang="hr-HR" b="1" dirty="0"/>
              <a:t>temeljna</a:t>
            </a:r>
            <a:r>
              <a:rPr lang="hr-HR" dirty="0"/>
              <a:t> točka </a:t>
            </a:r>
            <a:r>
              <a:rPr lang="hr-HR" b="1" dirty="0">
                <a:solidFill>
                  <a:srgbClr val="FF0000"/>
                </a:solidFill>
              </a:rPr>
              <a:t>povezivanja</a:t>
            </a:r>
            <a:r>
              <a:rPr lang="hr-HR" dirty="0"/>
              <a:t> u informatičkoj mreži. </a:t>
            </a:r>
          </a:p>
          <a:p>
            <a:r>
              <a:rPr lang="hr-HR" dirty="0"/>
              <a:t>To je bilo koji </a:t>
            </a:r>
            <a:r>
              <a:rPr lang="hr-HR" b="1" dirty="0"/>
              <a:t>fizički uređaj ili softverski entitet </a:t>
            </a:r>
            <a:r>
              <a:rPr lang="hr-HR" dirty="0"/>
              <a:t>koji se može adresirati, odnosno koji može </a:t>
            </a:r>
            <a:r>
              <a:rPr lang="hr-HR" b="1" dirty="0">
                <a:solidFill>
                  <a:srgbClr val="FF0000"/>
                </a:solidFill>
              </a:rPr>
              <a:t>slati, primati ili prosljeđivati informacije </a:t>
            </a:r>
            <a:r>
              <a:rPr lang="hr-HR" dirty="0"/>
              <a:t>unutar te mreže.</a:t>
            </a:r>
          </a:p>
          <a:p>
            <a:r>
              <a:rPr lang="hr-HR" dirty="0"/>
              <a:t>U kontekstu OSI modela:</a:t>
            </a:r>
          </a:p>
          <a:p>
            <a:r>
              <a:rPr lang="hr-HR" b="1" dirty="0"/>
              <a:t>Slanje i primanje:</a:t>
            </a:r>
            <a:r>
              <a:rPr lang="hr-HR" dirty="0"/>
              <a:t> OSI model upravlja komunikacijom od </a:t>
            </a:r>
            <a:r>
              <a:rPr lang="hr-HR" b="1" dirty="0"/>
              <a:t>pošiljatelja</a:t>
            </a:r>
            <a:r>
              <a:rPr lang="hr-HR" dirty="0"/>
              <a:t> do </a:t>
            </a:r>
            <a:r>
              <a:rPr lang="hr-HR" b="1" dirty="0"/>
              <a:t>primatelja</a:t>
            </a:r>
            <a:r>
              <a:rPr lang="hr-HR" dirty="0"/>
              <a:t>. </a:t>
            </a:r>
          </a:p>
          <a:p>
            <a:r>
              <a:rPr lang="hr-HR" b="1" dirty="0">
                <a:solidFill>
                  <a:srgbClr val="FF0000"/>
                </a:solidFill>
              </a:rPr>
              <a:t>I pošiljatelj i primatelj su zapravo čvorovi mreže (npr. vaše računalo i server koji čuva web stranicu).</a:t>
            </a:r>
          </a:p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9F400D2-3232-483D-8E5A-C0381DA7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2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980042F-879B-49B1-84E0-EA4B9774F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0137481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C318548-18D7-49E5-91F7-0F404F75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Osnove mrežne komunikacije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EA21B1A-7C70-4B18-827C-E5060547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800" b="1" dirty="0"/>
              <a:t>3 osnovne razine komunikacije:</a:t>
            </a:r>
            <a:endParaRPr lang="hr-HR" sz="2800" dirty="0"/>
          </a:p>
          <a:p>
            <a:r>
              <a:rPr lang="hr-HR" sz="2800" b="1" dirty="0"/>
              <a:t>Primjenska razina:</a:t>
            </a:r>
            <a:r>
              <a:rPr lang="hr-HR" sz="2800" dirty="0"/>
              <a:t> Stvaranje i razmjena korisničkog sadržaja (</a:t>
            </a:r>
            <a:r>
              <a:rPr lang="hr-HR" sz="2800" b="1" dirty="0">
                <a:solidFill>
                  <a:srgbClr val="FF0000"/>
                </a:solidFill>
              </a:rPr>
              <a:t>aplikacije</a:t>
            </a:r>
            <a:r>
              <a:rPr lang="hr-HR" sz="2800" dirty="0"/>
              <a:t>).</a:t>
            </a:r>
          </a:p>
          <a:p>
            <a:r>
              <a:rPr lang="hr-HR" sz="2800" b="1" dirty="0"/>
              <a:t>Razina protokola:</a:t>
            </a:r>
            <a:r>
              <a:rPr lang="hr-HR" sz="2800" dirty="0"/>
              <a:t> Pravila komuniciranja (</a:t>
            </a:r>
            <a:r>
              <a:rPr lang="hr-HR" sz="2800" b="1" dirty="0">
                <a:solidFill>
                  <a:srgbClr val="FF0000"/>
                </a:solidFill>
              </a:rPr>
              <a:t>mrežni protokoli</a:t>
            </a:r>
            <a:r>
              <a:rPr lang="hr-HR" sz="2800" dirty="0"/>
              <a:t>).</a:t>
            </a:r>
          </a:p>
          <a:p>
            <a:r>
              <a:rPr lang="hr-HR" sz="2800" b="1" dirty="0"/>
              <a:t>Fizička razina:</a:t>
            </a:r>
            <a:r>
              <a:rPr lang="hr-HR" sz="2800" dirty="0"/>
              <a:t> Mediji za prijenos (</a:t>
            </a:r>
            <a:r>
              <a:rPr lang="hr-HR" sz="2800" b="1" dirty="0">
                <a:solidFill>
                  <a:srgbClr val="FF0000"/>
                </a:solidFill>
              </a:rPr>
              <a:t>kabeli kod žičnog, slobodni prostor kod bežičnog prijenosa</a:t>
            </a:r>
            <a:r>
              <a:rPr lang="hr-HR" sz="2800" dirty="0"/>
              <a:t>).</a:t>
            </a:r>
          </a:p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4E2305A-F266-4DFD-AE15-1AD1A16A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3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78E373D-59A7-4476-A6A4-FF21C048B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67096D34-2285-4BEB-9CA3-5841EEF31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581128"/>
            <a:ext cx="97536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8858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4E01373-D3C3-46B8-880A-6C3F65FE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Uvod u OSI referentni model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BE4BF07-A6A7-430F-9294-82F3D7A7E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Razvoj:</a:t>
            </a:r>
            <a:r>
              <a:rPr lang="pl-PL" dirty="0"/>
              <a:t> Razvijen od strane </a:t>
            </a:r>
            <a:r>
              <a:rPr lang="pl-PL" b="1" dirty="0"/>
              <a:t>ISO</a:t>
            </a:r>
            <a:r>
              <a:rPr lang="pl-PL" dirty="0"/>
              <a:t> organizacije 1979., međunarodni standard od 1984. godine.</a:t>
            </a:r>
          </a:p>
          <a:p>
            <a:r>
              <a:rPr lang="hr-HR" b="1" dirty="0"/>
              <a:t>Definicija:</a:t>
            </a:r>
            <a:r>
              <a:rPr lang="hr-HR" dirty="0"/>
              <a:t> Apstraktni slojeviti model sa </a:t>
            </a:r>
            <a:r>
              <a:rPr lang="hr-HR" b="1" dirty="0"/>
              <a:t>7 slojeva</a:t>
            </a:r>
            <a:r>
              <a:rPr lang="hr-HR" dirty="0"/>
              <a:t> koji upravlja komunikacijom od </a:t>
            </a:r>
            <a:r>
              <a:rPr lang="hr-HR" b="1" dirty="0">
                <a:solidFill>
                  <a:srgbClr val="FF0000"/>
                </a:solidFill>
              </a:rPr>
              <a:t>pošiljatelja</a:t>
            </a:r>
            <a:r>
              <a:rPr lang="hr-HR" dirty="0"/>
              <a:t> do </a:t>
            </a:r>
            <a:r>
              <a:rPr lang="hr-HR" b="1" dirty="0">
                <a:solidFill>
                  <a:srgbClr val="FF0000"/>
                </a:solidFill>
              </a:rPr>
              <a:t>primatelja</a:t>
            </a:r>
            <a:r>
              <a:rPr lang="hr-HR" dirty="0"/>
              <a:t>.</a:t>
            </a:r>
          </a:p>
          <a:p>
            <a:r>
              <a:rPr lang="hr-HR" b="1" dirty="0"/>
              <a:t>Prednosti slojevitosti:</a:t>
            </a:r>
            <a:endParaRPr lang="hr-HR" dirty="0"/>
          </a:p>
          <a:p>
            <a:pPr lvl="1"/>
            <a:r>
              <a:rPr lang="hr-HR" dirty="0"/>
              <a:t>Lakša dijagnostika i razvoj novih protokola.</a:t>
            </a:r>
          </a:p>
          <a:p>
            <a:pPr lvl="1"/>
            <a:r>
              <a:rPr lang="hr-HR" dirty="0"/>
              <a:t>Klasifikacija mrežnih uređaja prema njihovoj ulozi.</a:t>
            </a:r>
          </a:p>
          <a:p>
            <a:pPr lvl="1"/>
            <a:r>
              <a:rPr lang="hr-HR" dirty="0"/>
              <a:t>Odvojeno promatranje procesa po slojevima.</a:t>
            </a:r>
          </a:p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0A33EEE-5113-420F-921A-8816ECA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4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71BFBFB-544F-4837-82E8-1D33CE2DC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32FE2A6-3292-4202-9B89-9B7E9FA1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59" y="4725144"/>
            <a:ext cx="10815282" cy="157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9641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0EC8DF9F-82B5-4ABB-A867-FF5880F7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5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13B1CD4-13DB-400E-9AB9-09D95D900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  <p:pic>
        <p:nvPicPr>
          <p:cNvPr id="10" name="Rezervirano mjesto sadržaja 9">
            <a:extLst>
              <a:ext uri="{FF2B5EF4-FFF2-40B4-BE49-F238E27FC236}">
                <a16:creationId xmlns:a16="http://schemas.microsoft.com/office/drawing/2014/main" id="{122027C9-241B-469D-9F84-9331EA182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499" y="197924"/>
            <a:ext cx="11263001" cy="6291442"/>
          </a:xfrm>
          <a:prstGeom prst="rect">
            <a:avLst/>
          </a:prstGeom>
        </p:spPr>
      </p:pic>
      <p:sp>
        <p:nvSpPr>
          <p:cNvPr id="9" name="AutoShape 2" descr=", generirao AI">
            <a:extLst>
              <a:ext uri="{FF2B5EF4-FFF2-40B4-BE49-F238E27FC236}">
                <a16:creationId xmlns:a16="http://schemas.microsoft.com/office/drawing/2014/main" id="{A2F38B08-9D47-404F-B920-8E26C59CF2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84513554"/>
      </p:ext>
    </p:extLst>
  </p:cSld>
  <p:clrMapOvr>
    <a:masterClrMapping/>
  </p:clrMapOvr>
  <p:transition spd="slow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7877FF4-491D-48EC-87C9-141EEF68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Pregled 7 slojeva OSI modela</a:t>
            </a:r>
            <a:endParaRPr lang="hr-HR" dirty="0"/>
          </a:p>
        </p:txBody>
      </p:sp>
      <p:graphicFrame>
        <p:nvGraphicFramePr>
          <p:cNvPr id="6" name="Rezervirano mjesto sadržaja 5">
            <a:extLst>
              <a:ext uri="{FF2B5EF4-FFF2-40B4-BE49-F238E27FC236}">
                <a16:creationId xmlns:a16="http://schemas.microsoft.com/office/drawing/2014/main" id="{A5B9B36C-2BD8-4750-AB3F-3E84804733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799983"/>
              </p:ext>
            </p:extLst>
          </p:nvPr>
        </p:nvGraphicFramePr>
        <p:xfrm>
          <a:off x="2351584" y="1316358"/>
          <a:ext cx="7466908" cy="5193524"/>
        </p:xfrm>
        <a:graphic>
          <a:graphicData uri="http://schemas.openxmlformats.org/drawingml/2006/table">
            <a:tbl>
              <a:tblPr/>
              <a:tblGrid>
                <a:gridCol w="2241070">
                  <a:extLst>
                    <a:ext uri="{9D8B030D-6E8A-4147-A177-3AD203B41FA5}">
                      <a16:colId xmlns:a16="http://schemas.microsoft.com/office/drawing/2014/main" val="927176186"/>
                    </a:ext>
                  </a:extLst>
                </a:gridCol>
                <a:gridCol w="735140">
                  <a:extLst>
                    <a:ext uri="{9D8B030D-6E8A-4147-A177-3AD203B41FA5}">
                      <a16:colId xmlns:a16="http://schemas.microsoft.com/office/drawing/2014/main" val="1942588703"/>
                    </a:ext>
                  </a:extLst>
                </a:gridCol>
                <a:gridCol w="2245349">
                  <a:extLst>
                    <a:ext uri="{9D8B030D-6E8A-4147-A177-3AD203B41FA5}">
                      <a16:colId xmlns:a16="http://schemas.microsoft.com/office/drawing/2014/main" val="3538791098"/>
                    </a:ext>
                  </a:extLst>
                </a:gridCol>
                <a:gridCol w="2245349">
                  <a:extLst>
                    <a:ext uri="{9D8B030D-6E8A-4147-A177-3AD203B41FA5}">
                      <a16:colId xmlns:a16="http://schemas.microsoft.com/office/drawing/2014/main" val="1044163993"/>
                    </a:ext>
                  </a:extLst>
                </a:gridCol>
              </a:tblGrid>
              <a:tr h="359630"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>
                          <a:effectLst/>
                          <a:latin typeface="Google Sans Text"/>
                        </a:rPr>
                        <a:t>Grupa slojeva</a:t>
                      </a:r>
                      <a:endParaRPr lang="hr-HR" sz="20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b="1">
                          <a:effectLst/>
                          <a:latin typeface="Google Sans Text"/>
                        </a:rPr>
                        <a:t>R.br.</a:t>
                      </a:r>
                      <a:endParaRPr lang="hr-HR" sz="20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b="1">
                          <a:effectLst/>
                          <a:latin typeface="Google Sans Text"/>
                        </a:rPr>
                        <a:t>Naziv sloja</a:t>
                      </a:r>
                      <a:endParaRPr lang="hr-HR" sz="20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>
                          <a:effectLst/>
                          <a:latin typeface="Google Sans Text"/>
                        </a:rPr>
                        <a:t>Osnovna funkcija</a:t>
                      </a:r>
                      <a:endParaRPr lang="hr-HR" sz="20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005827"/>
                  </a:ext>
                </a:extLst>
              </a:tr>
              <a:tr h="822012">
                <a:tc>
                  <a:txBody>
                    <a:bodyPr/>
                    <a:lstStyle/>
                    <a:p>
                      <a:r>
                        <a:rPr lang="hr-HR" sz="1600" b="1" dirty="0">
                          <a:effectLst/>
                          <a:latin typeface="Google Sans Text"/>
                        </a:rPr>
                        <a:t>Gornji slojevi</a:t>
                      </a:r>
                      <a:endParaRPr lang="hr-HR" sz="1600" dirty="0">
                        <a:effectLst/>
                        <a:latin typeface="Google Sans Text"/>
                      </a:endParaRPr>
                    </a:p>
                    <a:p>
                      <a:br>
                        <a:rPr lang="hr-HR" sz="1600" dirty="0">
                          <a:effectLst/>
                          <a:latin typeface="Google Sans Text"/>
                        </a:rPr>
                      </a:br>
                      <a:r>
                        <a:rPr lang="hr-HR" sz="1600" i="1" dirty="0">
                          <a:effectLst/>
                          <a:latin typeface="Google Sans Text"/>
                        </a:rPr>
                        <a:t>(rad aplikacija)</a:t>
                      </a:r>
                      <a:endParaRPr lang="hr-HR" sz="16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7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 dirty="0">
                          <a:effectLst/>
                          <a:latin typeface="Google Sans Text"/>
                        </a:rPr>
                        <a:t>Aplikacijski</a:t>
                      </a:r>
                      <a:endParaRPr lang="hr-HR" sz="18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sz="1500">
                          <a:effectLst/>
                          <a:latin typeface="Google Sans Text"/>
                        </a:rPr>
                        <a:t>Pristup mrežnim uslugama za korisnika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658903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endParaRPr lang="hr-HR" sz="15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 dirty="0">
                          <a:effectLst/>
                          <a:latin typeface="Google Sans Text"/>
                        </a:rPr>
                        <a:t>Prezentacijski</a:t>
                      </a:r>
                      <a:endParaRPr lang="hr-HR" sz="18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r-HR" sz="1500">
                          <a:effectLst/>
                          <a:latin typeface="Google Sans Text"/>
                        </a:rPr>
                        <a:t>Format, struktura i enkripcija podataka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450273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endParaRPr lang="hr-HR" sz="15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 dirty="0">
                          <a:effectLst/>
                          <a:latin typeface="Google Sans Text"/>
                        </a:rPr>
                        <a:t>Sloj sesije</a:t>
                      </a:r>
                      <a:endParaRPr lang="hr-HR" sz="18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effectLst/>
                          <a:latin typeface="Google Sans Text"/>
                        </a:rPr>
                        <a:t>Uspostava, sinkronizacija i prekid veze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550806"/>
                  </a:ext>
                </a:extLst>
              </a:tr>
              <a:tr h="822012">
                <a:tc>
                  <a:txBody>
                    <a:bodyPr/>
                    <a:lstStyle/>
                    <a:p>
                      <a:r>
                        <a:rPr lang="hr-HR" sz="1600" b="1" dirty="0">
                          <a:effectLst/>
                          <a:latin typeface="Google Sans Text"/>
                        </a:rPr>
                        <a:t>Donji slojevi</a:t>
                      </a:r>
                      <a:endParaRPr lang="hr-HR" sz="1600" dirty="0">
                        <a:effectLst/>
                        <a:latin typeface="Google Sans Text"/>
                      </a:endParaRPr>
                    </a:p>
                    <a:p>
                      <a:br>
                        <a:rPr lang="hr-HR" sz="1600" dirty="0">
                          <a:effectLst/>
                          <a:latin typeface="Google Sans Text"/>
                        </a:rPr>
                      </a:br>
                      <a:r>
                        <a:rPr lang="hr-HR" sz="1600" i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hr-HR" sz="1600" i="1" dirty="0" err="1">
                          <a:effectLst/>
                          <a:latin typeface="Google Sans Text"/>
                        </a:rPr>
                        <a:t>prijenost</a:t>
                      </a:r>
                      <a:r>
                        <a:rPr lang="hr-HR" sz="1600" i="1" dirty="0">
                          <a:effectLst/>
                          <a:latin typeface="Google Sans Text"/>
                        </a:rPr>
                        <a:t> podataka)</a:t>
                      </a:r>
                      <a:endParaRPr lang="hr-HR" sz="16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>
                          <a:effectLst/>
                          <a:latin typeface="Google Sans Text"/>
                        </a:rPr>
                        <a:t>Transportni</a:t>
                      </a:r>
                      <a:endParaRPr lang="hr-HR" sz="18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sz="1500" dirty="0">
                          <a:effectLst/>
                          <a:latin typeface="Google Sans Text"/>
                        </a:rPr>
                        <a:t>Pouzdanost, segmentacija i kontrola toka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233948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endParaRPr lang="hr-HR" sz="15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>
                          <a:effectLst/>
                          <a:latin typeface="Google Sans Text"/>
                        </a:rPr>
                        <a:t>Mrežni</a:t>
                      </a:r>
                      <a:endParaRPr lang="hr-HR" sz="18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effectLst/>
                          <a:latin typeface="Google Sans Text"/>
                        </a:rPr>
                        <a:t>Odabir putanje i logičko adresiranje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090202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endParaRPr lang="hr-HR" sz="15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>
                          <a:effectLst/>
                          <a:latin typeface="Google Sans Text"/>
                        </a:rPr>
                        <a:t>Sloj podatkovne poveznice</a:t>
                      </a:r>
                      <a:endParaRPr lang="hr-HR" sz="18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effectLst/>
                          <a:latin typeface="Google Sans Text"/>
                        </a:rPr>
                        <a:t>Fizičko adresiranje i prijenos okvira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212153"/>
                  </a:ext>
                </a:extLst>
              </a:tr>
              <a:tr h="590821">
                <a:tc>
                  <a:txBody>
                    <a:bodyPr/>
                    <a:lstStyle/>
                    <a:p>
                      <a:endParaRPr lang="hr-HR" sz="150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800" b="1" dirty="0">
                          <a:effectLst/>
                          <a:latin typeface="Google Sans Text"/>
                        </a:rPr>
                        <a:t>Fizički</a:t>
                      </a:r>
                      <a:endParaRPr lang="hr-HR" sz="1800" dirty="0">
                        <a:effectLst/>
                        <a:latin typeface="Google Sans Text"/>
                      </a:endParaRP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effectLst/>
                          <a:latin typeface="Google Sans Text"/>
                        </a:rPr>
                        <a:t>Električna i mehanička svojstva medija</a:t>
                      </a:r>
                    </a:p>
                  </a:txBody>
                  <a:tcPr marL="96330" marR="96330" marT="64220" marB="6422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156633"/>
                  </a:ext>
                </a:extLst>
              </a:tr>
            </a:tbl>
          </a:graphicData>
        </a:graphic>
      </p:graphicFrame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39974E3-217C-4717-A457-71765D2A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6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2FF5841F-A575-4E60-8CDD-F59D4557F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59507772"/>
      </p:ext>
    </p:extLst>
  </p:cSld>
  <p:clrMapOvr>
    <a:masterClrMapping/>
  </p:clrMapOvr>
  <p:transition spd="slow"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89CA6F2-9F5F-440B-9150-5BEE2193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Gornji slojevi (7., 6. i 5. sloj)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9221EA5-5CE7-42C5-A788-779EBF339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hr-HR" b="1" dirty="0">
                <a:solidFill>
                  <a:srgbClr val="FF0000"/>
                </a:solidFill>
              </a:rPr>
              <a:t>7. Aplikacijski sloj (</a:t>
            </a:r>
            <a:r>
              <a:rPr lang="hr-HR" b="1" dirty="0" err="1">
                <a:solidFill>
                  <a:srgbClr val="FF0000"/>
                </a:solidFill>
              </a:rPr>
              <a:t>Application</a:t>
            </a:r>
            <a:r>
              <a:rPr lang="hr-HR" b="1" dirty="0">
                <a:solidFill>
                  <a:srgbClr val="FF0000"/>
                </a:solidFill>
              </a:rPr>
              <a:t>) </a:t>
            </a:r>
            <a:endParaRPr lang="hr-HR" dirty="0"/>
          </a:p>
          <a:p>
            <a:pPr lvl="1"/>
            <a:r>
              <a:rPr lang="hr-HR" dirty="0"/>
              <a:t>neposredan dodir s korisnikom</a:t>
            </a:r>
          </a:p>
          <a:p>
            <a:r>
              <a:rPr lang="hr-HR" b="1" dirty="0"/>
              <a:t>Protokoli:</a:t>
            </a:r>
            <a:endParaRPr lang="hr-HR" dirty="0"/>
          </a:p>
          <a:p>
            <a:pPr lvl="1"/>
            <a:r>
              <a:rPr lang="hr-HR" b="1" dirty="0"/>
              <a:t>HTTP / HTTPS </a:t>
            </a:r>
            <a:r>
              <a:rPr lang="hr-HR" dirty="0"/>
              <a:t>(mrežne stranice / sigurna verzija)</a:t>
            </a:r>
          </a:p>
          <a:p>
            <a:pPr lvl="1"/>
            <a:r>
              <a:rPr lang="hr-HR" b="1" dirty="0"/>
              <a:t>SMTP</a:t>
            </a:r>
            <a:r>
              <a:rPr lang="hr-HR" dirty="0"/>
              <a:t> (odlazna e-pošta), </a:t>
            </a:r>
            <a:r>
              <a:rPr lang="hr-HR" b="1" dirty="0"/>
              <a:t>POP3 / IMAP </a:t>
            </a:r>
            <a:r>
              <a:rPr lang="hr-HR" dirty="0"/>
              <a:t>(dolazna e-pošta)</a:t>
            </a:r>
          </a:p>
          <a:p>
            <a:pPr lvl="1"/>
            <a:r>
              <a:rPr lang="hr-HR" b="1" dirty="0"/>
              <a:t>FTP</a:t>
            </a:r>
            <a:r>
              <a:rPr lang="hr-HR" dirty="0"/>
              <a:t> (</a:t>
            </a:r>
            <a:r>
              <a:rPr lang="hr-HR" dirty="0" err="1"/>
              <a:t>prijenost</a:t>
            </a:r>
            <a:r>
              <a:rPr lang="hr-HR" dirty="0"/>
              <a:t> datoteka), </a:t>
            </a:r>
            <a:r>
              <a:rPr lang="hr-HR" b="1" dirty="0" err="1"/>
              <a:t>Telnet</a:t>
            </a:r>
            <a:r>
              <a:rPr lang="hr-HR" dirty="0"/>
              <a:t> (rad na daljinu)</a:t>
            </a:r>
          </a:p>
          <a:p>
            <a:pPr marL="114300" indent="0">
              <a:buNone/>
            </a:pPr>
            <a:r>
              <a:rPr lang="hr-HR" b="1" dirty="0">
                <a:solidFill>
                  <a:srgbClr val="FF0000"/>
                </a:solidFill>
              </a:rPr>
              <a:t>6. Prezentacijski sloj (</a:t>
            </a:r>
            <a:r>
              <a:rPr lang="hr-HR" b="1" dirty="0" err="1">
                <a:solidFill>
                  <a:srgbClr val="FF0000"/>
                </a:solidFill>
              </a:rPr>
              <a:t>Presentation</a:t>
            </a:r>
            <a:r>
              <a:rPr lang="hr-HR" b="1" dirty="0">
                <a:solidFill>
                  <a:srgbClr val="FF0000"/>
                </a:solidFill>
              </a:rPr>
              <a:t>):</a:t>
            </a:r>
          </a:p>
          <a:p>
            <a:r>
              <a:rPr lang="hr-HR" dirty="0"/>
              <a:t>Osigurava da su podatci čitljivi odredišnoj aplikaciji (sintaksa, format).</a:t>
            </a:r>
          </a:p>
          <a:p>
            <a:pPr marL="114300" indent="0">
              <a:buNone/>
            </a:pPr>
            <a:r>
              <a:rPr lang="hr-HR" b="1" dirty="0">
                <a:solidFill>
                  <a:srgbClr val="FF0000"/>
                </a:solidFill>
              </a:rPr>
              <a:t>5. Sloj sesije (</a:t>
            </a:r>
            <a:r>
              <a:rPr lang="hr-HR" b="1" dirty="0" err="1">
                <a:solidFill>
                  <a:srgbClr val="FF0000"/>
                </a:solidFill>
              </a:rPr>
              <a:t>Session</a:t>
            </a:r>
            <a:r>
              <a:rPr lang="hr-HR" b="1" dirty="0">
                <a:solidFill>
                  <a:srgbClr val="FF0000"/>
                </a:solidFill>
              </a:rPr>
              <a:t>):</a:t>
            </a:r>
          </a:p>
          <a:p>
            <a:r>
              <a:rPr lang="hr-HR" dirty="0"/>
              <a:t>Upravlja vezama (npr. sinkronizacija tona i slike u videozapisu).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3CF33E74-DABA-440D-ADDA-C11B3161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7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4C8C7C9-5F35-45E2-90C0-594D4FE13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7563731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DFB2CF4-D673-48B3-8AEC-8EC2E1E8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5: Transportni i Mrežni sloj (4. i 3. sloj)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CDEE3AC-316F-41B6-ADFA-D0EDE987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hr-HR" sz="2400" b="1" dirty="0">
                <a:solidFill>
                  <a:srgbClr val="FF0000"/>
                </a:solidFill>
              </a:rPr>
              <a:t>4. Transportni sloj (Transport):</a:t>
            </a:r>
          </a:p>
          <a:p>
            <a:pPr lvl="1"/>
            <a:r>
              <a:rPr lang="hr-HR" sz="2400" dirty="0"/>
              <a:t>Zadužen za prijenos podataka između čvorova i kontrolu pogrešaka.</a:t>
            </a:r>
          </a:p>
          <a:p>
            <a:pPr lvl="1"/>
            <a:r>
              <a:rPr lang="hr-HR" sz="2400" b="1" dirty="0"/>
              <a:t>TCP:</a:t>
            </a:r>
            <a:r>
              <a:rPr lang="hr-HR" sz="2400" dirty="0"/>
              <a:t> Pouzdan prijenos (spojni rad, ponovno slanje ako ima pogrešaka).</a:t>
            </a:r>
          </a:p>
          <a:p>
            <a:pPr lvl="1"/>
            <a:r>
              <a:rPr lang="hr-HR" sz="2400" b="1" dirty="0"/>
              <a:t>UDP:</a:t>
            </a:r>
            <a:r>
              <a:rPr lang="hr-HR" sz="2400" dirty="0"/>
              <a:t> Brz prijenos bez provjere pouzdanosti (prikladno za prijenos uživo).</a:t>
            </a:r>
          </a:p>
          <a:p>
            <a:pPr marL="114300" indent="0">
              <a:buNone/>
            </a:pPr>
            <a:r>
              <a:rPr lang="hr-HR" sz="2400" b="1" dirty="0">
                <a:solidFill>
                  <a:srgbClr val="FF0000"/>
                </a:solidFill>
              </a:rPr>
              <a:t>3. Mrežni sloj (Network):</a:t>
            </a:r>
          </a:p>
          <a:p>
            <a:pPr lvl="1"/>
            <a:r>
              <a:rPr lang="hr-HR" sz="2400" dirty="0"/>
              <a:t>Određuje najbolju putanju i povezuje različite mreže.</a:t>
            </a:r>
          </a:p>
          <a:p>
            <a:pPr lvl="1"/>
            <a:r>
              <a:rPr lang="hr-HR" sz="2400" dirty="0"/>
              <a:t>Koristi </a:t>
            </a:r>
            <a:r>
              <a:rPr lang="hr-HR" sz="2400" b="1" dirty="0"/>
              <a:t>logičke adrese (IP adrese)</a:t>
            </a:r>
            <a:r>
              <a:rPr lang="hr-HR" sz="2400" dirty="0"/>
              <a:t> i rad po načelu "najbolje moguće" (</a:t>
            </a:r>
            <a:r>
              <a:rPr lang="hr-HR" sz="2400" i="1" dirty="0" err="1"/>
              <a:t>best</a:t>
            </a:r>
            <a:r>
              <a:rPr lang="hr-HR" sz="2400" i="1" dirty="0"/>
              <a:t> </a:t>
            </a:r>
            <a:r>
              <a:rPr lang="hr-HR" sz="2400" i="1" dirty="0" err="1"/>
              <a:t>effort</a:t>
            </a:r>
            <a:r>
              <a:rPr lang="hr-HR" sz="2400" dirty="0"/>
              <a:t>).</a:t>
            </a:r>
          </a:p>
          <a:p>
            <a:pPr lvl="1"/>
            <a:r>
              <a:rPr lang="hr-HR" sz="2400" b="1" dirty="0"/>
              <a:t>Uređaj:</a:t>
            </a:r>
            <a:r>
              <a:rPr lang="hr-HR" sz="2400" dirty="0"/>
              <a:t> </a:t>
            </a:r>
            <a:r>
              <a:rPr lang="hr-HR" sz="2400" dirty="0" err="1"/>
              <a:t>Usmjernik</a:t>
            </a:r>
            <a:r>
              <a:rPr lang="hr-HR" sz="2400" dirty="0"/>
              <a:t> (</a:t>
            </a:r>
            <a:r>
              <a:rPr lang="hr-HR" sz="2400" i="1" dirty="0" err="1"/>
              <a:t>Router</a:t>
            </a:r>
            <a:r>
              <a:rPr lang="hr-HR" sz="2400" dirty="0"/>
              <a:t>) – prosljeđuje podatke pomoću tablice usmjeravanja.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564548D-6C46-493D-AD1C-00EA358D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8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87D1A9F-FE2E-45EB-952B-17DA88EEA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581147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8987724-7DE1-45E1-859F-4571D01F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/>
              <a:t>Sloj podatkovne poveznice i Fizički sloj (2. i 1. sloj)</a:t>
            </a:r>
            <a:endParaRPr lang="hr-HR" sz="360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DEB913A-119A-4671-9676-69E891D2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hr-HR" sz="2800" b="1" dirty="0">
                <a:solidFill>
                  <a:srgbClr val="FF0000"/>
                </a:solidFill>
              </a:rPr>
              <a:t>2. Sloj podatkovne poveznice (Data Link):</a:t>
            </a:r>
          </a:p>
          <a:p>
            <a:pPr lvl="1"/>
            <a:r>
              <a:rPr lang="hr-HR" sz="2400" dirty="0"/>
              <a:t>Pouzdan prijenos podataka unutar lokalne mreže (LAN).</a:t>
            </a:r>
          </a:p>
          <a:p>
            <a:pPr lvl="1"/>
            <a:r>
              <a:rPr lang="hr-HR" sz="2400" dirty="0"/>
              <a:t>Identifikacija uređaja pomoću fizičkih </a:t>
            </a:r>
            <a:r>
              <a:rPr lang="hr-HR" sz="2400" b="1" dirty="0"/>
              <a:t>MAC adresa</a:t>
            </a:r>
            <a:r>
              <a:rPr lang="hr-HR" sz="2400" dirty="0"/>
              <a:t>.</a:t>
            </a:r>
          </a:p>
          <a:p>
            <a:pPr lvl="1"/>
            <a:r>
              <a:rPr lang="hr-HR" sz="2400" b="1" dirty="0"/>
              <a:t>Uređaji:</a:t>
            </a:r>
            <a:r>
              <a:rPr lang="hr-HR" sz="2400" dirty="0"/>
              <a:t> Preklopnik (</a:t>
            </a:r>
            <a:r>
              <a:rPr lang="hr-HR" sz="2400" i="1" dirty="0" err="1"/>
              <a:t>Switch</a:t>
            </a:r>
            <a:r>
              <a:rPr lang="hr-HR" sz="2400" dirty="0"/>
              <a:t>), </a:t>
            </a:r>
            <a:r>
              <a:rPr lang="hr-HR" sz="2400" dirty="0" err="1"/>
              <a:t>Premosnik</a:t>
            </a:r>
            <a:r>
              <a:rPr lang="hr-HR" sz="2400" dirty="0"/>
              <a:t> (</a:t>
            </a:r>
            <a:r>
              <a:rPr lang="hr-HR" sz="2400" i="1" dirty="0"/>
              <a:t>Bridge</a:t>
            </a:r>
            <a:r>
              <a:rPr lang="hr-HR" sz="2400" dirty="0"/>
              <a:t>).</a:t>
            </a:r>
          </a:p>
          <a:p>
            <a:r>
              <a:rPr lang="hr-HR" sz="2400" dirty="0"/>
              <a:t>Preklopnici prosljeđuju okvire na točno određeni izlazni </a:t>
            </a:r>
            <a:r>
              <a:rPr lang="hr-HR" sz="2400" dirty="0" err="1"/>
              <a:t>port</a:t>
            </a:r>
            <a:r>
              <a:rPr lang="hr-HR" sz="2400" dirty="0"/>
              <a:t> prema MAC tablici.</a:t>
            </a:r>
          </a:p>
          <a:p>
            <a:pPr marL="114300" indent="0">
              <a:buNone/>
            </a:pPr>
            <a:r>
              <a:rPr lang="hr-HR" sz="2800" b="1" dirty="0">
                <a:solidFill>
                  <a:srgbClr val="FF0000"/>
                </a:solidFill>
              </a:rPr>
              <a:t>1. Fizički sloj (</a:t>
            </a:r>
            <a:r>
              <a:rPr lang="hr-HR" sz="2800" b="1" dirty="0" err="1">
                <a:solidFill>
                  <a:srgbClr val="FF0000"/>
                </a:solidFill>
              </a:rPr>
              <a:t>Physical</a:t>
            </a:r>
            <a:r>
              <a:rPr lang="hr-HR" sz="2800" b="1" dirty="0">
                <a:solidFill>
                  <a:srgbClr val="FF0000"/>
                </a:solidFill>
              </a:rPr>
              <a:t>):</a:t>
            </a:r>
          </a:p>
          <a:p>
            <a:pPr lvl="1"/>
            <a:r>
              <a:rPr lang="hr-HR" sz="2400" dirty="0"/>
              <a:t>Definira električna i mehanička svojstva (napon, brzina, kabeli, konektori).</a:t>
            </a:r>
          </a:p>
          <a:p>
            <a:pPr lvl="1"/>
            <a:r>
              <a:rPr lang="hr-HR" sz="2400" b="1" dirty="0"/>
              <a:t>Mediji</a:t>
            </a:r>
            <a:r>
              <a:rPr lang="hr-HR" sz="2400" dirty="0"/>
              <a:t>: bakrene žice, optika, radiovalovi (slobodni prostor).</a:t>
            </a:r>
          </a:p>
          <a:p>
            <a:pPr lvl="1"/>
            <a:r>
              <a:rPr lang="hr-HR" sz="2400" b="1" dirty="0"/>
              <a:t>Uređaji:</a:t>
            </a:r>
            <a:r>
              <a:rPr lang="hr-HR" sz="2400" dirty="0"/>
              <a:t> Mrežne kartice (NIC), Koncentrator (</a:t>
            </a:r>
            <a:r>
              <a:rPr lang="hr-HR" sz="2400" i="1" dirty="0" err="1"/>
              <a:t>Hub</a:t>
            </a:r>
            <a:r>
              <a:rPr lang="hr-HR" sz="2400" dirty="0"/>
              <a:t>), Obnavljač (</a:t>
            </a:r>
            <a:r>
              <a:rPr lang="hr-HR" sz="2400" i="1" dirty="0" err="1"/>
              <a:t>Repeater</a:t>
            </a:r>
            <a:r>
              <a:rPr lang="hr-HR" sz="2400" dirty="0"/>
              <a:t>).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66B0E3D-A702-4B21-BC67-6A7BE505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9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0333909-D170-4F27-9B4C-5940221D6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5836367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B8B5358-4036-4F8F-9814-E822D815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Zadatci za učenike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7D59281-5F2B-402D-97A0-72785839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Preuzmite </a:t>
            </a:r>
            <a:r>
              <a:rPr lang="pl-PL" dirty="0"/>
              <a:t>Zadatci za učenike - OSI Model.docx datoteku s </a:t>
            </a:r>
            <a:r>
              <a:rPr lang="pl-PL" dirty="0">
                <a:hlinkClick r:id="rId2"/>
              </a:rPr>
              <a:t>ftp://profesorica/</a:t>
            </a:r>
            <a:r>
              <a:rPr lang="pl-PL" dirty="0"/>
              <a:t> i krenite s rješavanjem.</a:t>
            </a:r>
          </a:p>
          <a:p>
            <a:r>
              <a:rPr lang="pl-PL" dirty="0"/>
              <a:t>Po završetku dodajete u nazivu datoteke </a:t>
            </a:r>
            <a:r>
              <a:rPr lang="pl-PL" b="1" dirty="0"/>
              <a:t>vaše prezime </a:t>
            </a:r>
            <a:r>
              <a:rPr lang="pl-PL" dirty="0"/>
              <a:t>i predajete na lokaciju gdje </a:t>
            </a:r>
            <a:r>
              <a:rPr lang="pl-PL"/>
              <a:t>ste preuzeli nakon provjere odgovora (drugi sat).</a:t>
            </a:r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CFE8A4E-78C8-4D1D-B52F-8EF214F7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288-D357-4E6F-8666-F04D8D3A031A}" type="slidenum">
              <a:rPr lang="hr-HR" smtClean="0"/>
              <a:pPr/>
              <a:t>10</a:t>
            </a:fld>
            <a:endParaRPr lang="hr-HR" dirty="0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4A36965B-B8B2-4FDC-A9A4-3E56C20FC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pl-PL"/>
              <a:t>OSI referentni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33301267"/>
      </p:ext>
    </p:extLst>
  </p:cSld>
  <p:clrMapOvr>
    <a:masterClrMapping/>
  </p:clrMapOvr>
  <p:transition spd="slow">
    <p:split orient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lfa_osnove">
  <a:themeElements>
    <a:clrScheme name="Gomilanj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sjednost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Alfa_osnove</Template>
  <TotalTime>4236</TotalTime>
  <Words>664</Words>
  <Application>Microsoft Office PowerPoint</Application>
  <PresentationFormat>Široki zaslon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10</vt:i4>
      </vt:variant>
    </vt:vector>
  </HeadingPairs>
  <TitlesOfParts>
    <vt:vector size="17" baseType="lpstr">
      <vt:lpstr>Arial</vt:lpstr>
      <vt:lpstr>Calibri</vt:lpstr>
      <vt:lpstr>Fira Sans</vt:lpstr>
      <vt:lpstr>Google Sans Text</vt:lpstr>
      <vt:lpstr>Tahoma</vt:lpstr>
      <vt:lpstr>Verdana</vt:lpstr>
      <vt:lpstr>Alfa_osnove</vt:lpstr>
      <vt:lpstr> SLOJNI MODEL RAČUNALNE MREŽE </vt:lpstr>
      <vt:lpstr>Čvor mreže </vt:lpstr>
      <vt:lpstr>Osnove mrežne komunikacije</vt:lpstr>
      <vt:lpstr>Uvod u OSI referentni model</vt:lpstr>
      <vt:lpstr>PowerPoint prezentacija</vt:lpstr>
      <vt:lpstr>Pregled 7 slojeva OSI modela</vt:lpstr>
      <vt:lpstr>Gornji slojevi (7., 6. i 5. sloj)</vt:lpstr>
      <vt:lpstr>5: Transportni i Mrežni sloj (4. i 3. sloj)</vt:lpstr>
      <vt:lpstr>Sloj podatkovne poveznice i Fizički sloj (2. i 1. sloj)</vt:lpstr>
      <vt:lpstr>Zadatci za učenike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</dc:title>
  <dc:creator>Komp</dc:creator>
  <cp:lastModifiedBy>Komp</cp:lastModifiedBy>
  <cp:revision>272</cp:revision>
  <dcterms:created xsi:type="dcterms:W3CDTF">2013-04-15T10:22:21Z</dcterms:created>
  <dcterms:modified xsi:type="dcterms:W3CDTF">2026-09-24T13:58:28Z</dcterms:modified>
  <cp:contentStatus>Final</cp:contentStatus>
</cp:coreProperties>
</file>